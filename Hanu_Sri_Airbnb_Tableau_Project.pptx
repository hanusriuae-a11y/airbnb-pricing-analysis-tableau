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in one sentence, then say this project is about what drives Airbnb listing prices.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same kinds of questions a market analyst asks about any region: where is demand strong, what size sells, and how does it change over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clearly that these are listed prices, not actual revenue. It shows you understand what the data can and cannot prove.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the box on the right with your zipcode chart or map screenshot. Then edit the key finding with the real numbers from your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the title matches your chart. If price does not rise steadily with bedrooms, change the title to describe what you actually see.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trend in one sentence: when prices are highest and lowest, and a likely reason.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it to the job: market research means comparing places, spotting gaps, and presenting clearly.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822960"/>
            <a:ext cx="2011680" cy="2011680"/>
          </a:xfrm>
          <a:prstGeom prst="ellipse">
            <a:avLst/>
          </a:prstGeom>
          <a:solidFill>
            <a:srgbClr val="E8505B"/>
          </a:solidFill>
          <a:ln w="12700">
            <a:solidFill>
              <a:srgbClr val="E850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675120" y="822960"/>
            <a:ext cx="2011680" cy="2011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kern="0" spc="300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TABLEAU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585216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Airbnb Pricing Analysis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51760"/>
            <a:ext cx="56692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drives listed prices: location, bedroom count, and time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2976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Hanu Sri  |  Data Analyst  |  Dubai, UAE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Three questions I set out to answer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560320" cy="2834640"/>
          </a:xfrm>
          <a:prstGeom prst="roundRect">
            <a:avLst>
              <a:gd name="adj" fmla="val 4286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E8505B"/>
          </a:solidFill>
          <a:ln w="12700">
            <a:solidFill>
              <a:srgbClr val="E8505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51460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Where?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017520"/>
            <a:ext cx="210312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B65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Which zipcodes have the highest and lowest listed prices?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91840" y="1463040"/>
            <a:ext cx="2560320" cy="2834640"/>
          </a:xfrm>
          <a:prstGeom prst="roundRect">
            <a:avLst>
              <a:gd name="adj" fmla="val 4286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0440" y="1691640"/>
            <a:ext cx="640080" cy="640080"/>
          </a:xfrm>
          <a:prstGeom prst="ellipse">
            <a:avLst/>
          </a:prstGeom>
          <a:solidFill>
            <a:srgbClr val="E8505B"/>
          </a:solidFill>
          <a:ln w="12700">
            <a:solidFill>
              <a:srgbClr val="E8505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20440" y="169164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251460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size?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3017520"/>
            <a:ext cx="210312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B65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does the number of bedrooms change the price, and which sizes are most common?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035040" y="1463040"/>
            <a:ext cx="2560320" cy="2834640"/>
          </a:xfrm>
          <a:prstGeom prst="roundRect">
            <a:avLst>
              <a:gd name="adj" fmla="val 4286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3640" y="1691640"/>
            <a:ext cx="640080" cy="640080"/>
          </a:xfrm>
          <a:prstGeom prst="ellipse">
            <a:avLst/>
          </a:prstGeom>
          <a:solidFill>
            <a:srgbClr val="E8505B"/>
          </a:solidFill>
          <a:ln w="12700">
            <a:solidFill>
              <a:srgbClr val="E8505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63640" y="169164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251460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When?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3017520"/>
            <a:ext cx="210312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B65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do listed prices change over time?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 and approach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103120" cy="868680"/>
          </a:xfrm>
          <a:prstGeom prst="roundRect">
            <a:avLst>
              <a:gd name="adj" fmla="val 10526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54480"/>
            <a:ext cx="210312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Listings table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92 columns of property details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2103120" cy="868680"/>
          </a:xfrm>
          <a:prstGeom prst="roundRect">
            <a:avLst>
              <a:gd name="adj" fmla="val 10526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743200"/>
            <a:ext cx="210312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Calendar table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Daily listed prices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2743200" y="2514600"/>
            <a:ext cx="822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5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joined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834640" y="2331720"/>
            <a:ext cx="640080" cy="274320"/>
          </a:xfrm>
          <a:prstGeom prst="rightArrow">
            <a:avLst/>
          </a:prstGeom>
          <a:solidFill>
            <a:srgbClr val="E8505B"/>
          </a:solidFill>
          <a:ln w="12700">
            <a:solidFill>
              <a:srgbClr val="E8505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0" y="1965960"/>
            <a:ext cx="2011680" cy="1097280"/>
          </a:xfrm>
          <a:prstGeom prst="roundRect">
            <a:avLst>
              <a:gd name="adj" fmla="val 8333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57600" y="1965960"/>
            <a:ext cx="201168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Tableau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 views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60720" y="2377440"/>
            <a:ext cx="548640" cy="274320"/>
          </a:xfrm>
          <a:prstGeom prst="rightArrow">
            <a:avLst/>
          </a:prstGeom>
          <a:solidFill>
            <a:srgbClr val="E8505B"/>
          </a:solidFill>
          <a:ln w="12700">
            <a:solidFill>
              <a:srgbClr val="E8505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1965960"/>
            <a:ext cx="2194560" cy="1097280"/>
          </a:xfrm>
          <a:prstGeom prst="roundRect">
            <a:avLst>
              <a:gd name="adj" fmla="val 8333"/>
            </a:avLst>
          </a:prstGeom>
          <a:solidFill>
            <a:srgbClr val="E8505B"/>
          </a:solidFill>
          <a:ln w="12700">
            <a:solidFill>
              <a:srgbClr val="E8505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0" y="1965960"/>
            <a:ext cx="219456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 dashboard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Price by zipcode, bedrooms, time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023360"/>
            <a:ext cx="8046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5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Note: prices are listed prices, not confirmed bookings, so they show asking prices rather than revenue.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Price varies by location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B65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Two views: average price by zipcode, and the same data on a map.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3291840" cy="1554480"/>
          </a:xfrm>
          <a:prstGeom prst="roundRect">
            <a:avLst>
              <a:gd name="adj" fmla="val 5882"/>
            </a:avLst>
          </a:prstGeom>
          <a:solidFill>
            <a:srgbClr val="FDECEE"/>
          </a:solidFill>
          <a:ln w="12700">
            <a:solidFill>
              <a:srgbClr val="FDEC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01980" y="2743200"/>
            <a:ext cx="3202305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0" y="1280160"/>
            <a:ext cx="4480560" cy="3200400"/>
          </a:xfrm>
          <a:prstGeom prst="rect">
            <a:avLst/>
          </a:prstGeom>
          <a:solidFill>
            <a:srgbClr val="F4F6F8"/>
          </a:solidFill>
          <a:ln w="19050">
            <a:solidFill>
              <a:srgbClr val="9AA5B1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4114800" y="1280160"/>
            <a:ext cx="4480560" cy="3200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5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Paste your Tableau screenshot here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5B65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(Insert &gt; Pictures)</a:t>
            </a:r>
            <a:endParaRPr lang="en-US" sz="1400" dirty="0"/>
          </a:p>
        </p:txBody>
      </p:sp>
      <p:pic>
        <p:nvPicPr>
          <p:cNvPr id="8" name="Picture 7" descr="Screenshot (24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207135"/>
            <a:ext cx="4638675" cy="3320415"/>
          </a:xfrm>
          <a:prstGeom prst="rect">
            <a:avLst/>
          </a:prstGeom>
        </p:spPr>
      </p:pic>
      <p:pic>
        <p:nvPicPr>
          <p:cNvPr id="9" name="Picture 8" descr="Screenshot (25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150" y="2664460"/>
            <a:ext cx="3295650" cy="1711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Price rises with bedroom count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4480560" cy="3200400"/>
          </a:xfrm>
          <a:prstGeom prst="rect">
            <a:avLst/>
          </a:prstGeom>
          <a:solidFill>
            <a:srgbClr val="F4F6F8"/>
          </a:solidFill>
          <a:ln w="19050">
            <a:solidFill>
              <a:srgbClr val="9AA5B1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4480560" cy="3200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5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Paste your Tableau screenshot here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5B65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(Insert &gt; Pictures)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303520" y="1280160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B65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Views:  Distint count of Bedroom Listings and Average price for bedroom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303520" y="2743200"/>
            <a:ext cx="3291840" cy="1554480"/>
          </a:xfrm>
          <a:prstGeom prst="roundRect">
            <a:avLst>
              <a:gd name="adj" fmla="val 5882"/>
            </a:avLst>
          </a:prstGeom>
          <a:solidFill>
            <a:srgbClr val="FDECEE"/>
          </a:solidFill>
          <a:ln w="12700">
            <a:solidFill>
              <a:srgbClr val="FDEC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302885" y="2743200"/>
            <a:ext cx="3155315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50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finding: </a:t>
            </a:r>
            <a:r>
              <a:rPr lang="en-US" sz="1300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 Most listings have 1 bedrooms; average price rises from $96.2 to $584.8]</a:t>
            </a:r>
            <a:endParaRPr lang="en-US" sz="1300" dirty="0"/>
          </a:p>
        </p:txBody>
      </p:sp>
      <p:pic>
        <p:nvPicPr>
          <p:cNvPr id="11" name="Picture 10" descr="Screenshot (27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005" y="1280160"/>
            <a:ext cx="4513580" cy="1636395"/>
          </a:xfrm>
          <a:prstGeom prst="rect">
            <a:avLst/>
          </a:prstGeom>
        </p:spPr>
      </p:pic>
      <p:pic>
        <p:nvPicPr>
          <p:cNvPr id="12" name="Picture 11" descr="Screenshot (28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916555"/>
            <a:ext cx="4512945" cy="1564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Listed prices change over time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8046720" cy="2331720"/>
          </a:xfrm>
          <a:prstGeom prst="rect">
            <a:avLst/>
          </a:prstGeom>
          <a:solidFill>
            <a:srgbClr val="F4F6F8"/>
          </a:solidFill>
          <a:ln w="19050">
            <a:solidFill>
              <a:srgbClr val="9AA5B1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548640" y="1188720"/>
            <a:ext cx="8046720" cy="2331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5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Paste your Tableau screenshot here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5B65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(Insert &gt; Pictures)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703320"/>
            <a:ext cx="8046720" cy="822960"/>
          </a:xfrm>
          <a:prstGeom prst="roundRect">
            <a:avLst>
              <a:gd name="adj" fmla="val 11111"/>
            </a:avLst>
          </a:prstGeom>
          <a:solidFill>
            <a:srgbClr val="FDECEE"/>
          </a:solidFill>
          <a:ln w="12700">
            <a:solidFill>
              <a:srgbClr val="FDEC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3703320"/>
            <a:ext cx="7772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50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finding: </a:t>
            </a:r>
            <a:r>
              <a:rPr lang="en-US" sz="1300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:Revenue peak in December and are lowest in Feb]</a:t>
            </a:r>
            <a:endParaRPr lang="en-US" sz="1300" dirty="0"/>
          </a:p>
        </p:txBody>
      </p:sp>
      <p:pic>
        <p:nvPicPr>
          <p:cNvPr id="7" name="Picture 6" descr="Screenshot (23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355" y="1188720"/>
            <a:ext cx="8063865" cy="23647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this project shows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02920" cy="502920"/>
          </a:xfrm>
          <a:prstGeom prst="ellipse">
            <a:avLst/>
          </a:prstGeom>
          <a:solidFill>
            <a:srgbClr val="E8505B"/>
          </a:solidFill>
          <a:ln w="12700">
            <a:solidFill>
              <a:srgbClr val="E8505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371600"/>
            <a:ext cx="731520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Compare places</a:t>
            </a:r>
            <a:endParaRPr lang="en-US" sz="20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Comparing prices across locations is the same skill as comparing markets.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502920" cy="502920"/>
          </a:xfrm>
          <a:prstGeom prst="ellipse">
            <a:avLst/>
          </a:prstGeom>
          <a:solidFill>
            <a:srgbClr val="E8505B"/>
          </a:solidFill>
          <a:ln w="12700">
            <a:solidFill>
              <a:srgbClr val="E8505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42316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377440"/>
            <a:ext cx="731520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Spot patterns</a:t>
            </a:r>
            <a:endParaRPr lang="en-US" sz="20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Size and timing patterns show where demand is strong.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48056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github.com/hanusriuae-a11y  |  linkedin.com/in/hanusrib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1386</Words>
  <Application>WPS Presentation</Application>
  <PresentationFormat>On-screen Show (16:9)</PresentationFormat>
  <Paragraphs>83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9" baseType="lpstr">
      <vt:lpstr>Arial</vt:lpstr>
      <vt:lpstr>SimSun</vt:lpstr>
      <vt:lpstr>Wingdings</vt:lpstr>
      <vt:lpstr>Cambria</vt:lpstr>
      <vt:lpstr>Cambria</vt:lpstr>
      <vt:lpstr>Cambria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Airbnb Pricing Analysis - Tableau</dc:title>
  <dc:creator>Hanu Sri</dc:creator>
  <dc:subject>PptxGenJS Presentation</dc:subject>
  <cp:lastModifiedBy>Hanusri Busi</cp:lastModifiedBy>
  <cp:revision>2</cp:revision>
  <dcterms:created xsi:type="dcterms:W3CDTF">2026-10-08T06:55:00Z</dcterms:created>
  <dcterms:modified xsi:type="dcterms:W3CDTF">2026-10-08T07:40:53Z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04D682439B0E412781C3A7956AFD6A57_12</vt:lpwstr>
  </property>
  <property fmtid="{D5CDD505-2E9C-101B-9397-08002B2CF9AE}" pid="3" name="KSOProductBuildVer">
    <vt:lpwstr>1033-12.1.0.28032</vt:lpwstr>
  </property>
</Properties>
</file>